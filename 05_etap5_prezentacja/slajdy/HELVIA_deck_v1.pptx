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[0:00–0:20 · Strateg] Problem HELVII to nie technologia ani cena, tylko jakość obsługi. Kary SLA zabrały w rok 6,27 mln zł — dwie trzecie zysku operacyjnego.</a:t>
            </a:r>
          </a:p>
          <a:p/>
          <a:p>
            <a:r>
              <a:t>[0:20–1:00 · Analityk danych] 94% tych kar płacą dwaj klienci: NORDA i Lumea. Obsługuje ich głównie Obsługa Klienta — dział z rotacją 24,5%, najniższym SLA w firmie i ponad połową wszystkich błędów. Co trzecia osoba to junior, prawie co czwarta pracuje krócej niż rok, a 82% boi się, że AI zabierze im pracę. Przeszkolonych z AI jest tam 9%. Dlatego nasze trzy priorytety to: jakość u NORDY i Lumei, ludzie w Obsłudze Klienta i odciążenie Finansów, które mają najwięcej nadgodzin w firmie.</a:t>
            </a:r>
          </a:p>
          <a:p/>
          <a:p>
            <a:r>
              <a:t>[DO DECYZJI] Arkusz 1C w pliku jest pusty — potwierdźcie 3 priorytety i wpiszcie je w 1C (S1, S3, S8 z waszego 1B).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[1:00–1:50 · Strateg] NORDA żąda obniżki o 12%. Przy marży 4,6% każdy rabat powyżej 4,6% oznacza stratę na każdej operacji — 12% to minus 1,96 mln zł rocznie. Dlatego negocjujemy: teraz zero rabatu i 90-dniowy plan naprawy SLA, a od drugiego kwartału 2027 do 4% — w zamian za przedłużenie o 3 lata, prognozę szczytów i limit kar. Kary NORDY są cztery razy większe niż jej marża, więc jakość daje więcej niż cena.</a:t>
            </a:r>
          </a:p>
          <a:p/>
          <a:p>
            <a:r>
              <a:t>Jednocześnie stawiamy na wartość zamiast wolumenu: trzy projekty analityczne i sprzedażowe dla Quenty i Pilawy. Dają 87 tys. zł marży na etat, pięć razy więcej niż projekty w Obsłudze Klienta. Robimy to kosztem rozbudowy Obsługi Klienta i nowych dużych klientów.</a:t>
            </a:r>
          </a:p>
          <a:p/>
          <a:p>
            <a:r>
              <a:t>[DO WERYFIKACJI] Start S-03 w danych to 24.12.2027 przy decyzji do 15.11.2026 — potwierdźcie z mentorem. Komórka 2B C24 pokazuje #NAME? (funkcja MINIFS) — sprawdźcie w Excelu przed oddaniem.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[1:50–2:40 · Analityk ludzi i ryzyk] W pierwszej fali AI bierze rutynę w trzech procesach. Rejestracja faktur działa automatycznie z wyjątkami dla człowieka — to odciąża Finanse i odblokowuje projekt dla Kastelli. Odpowiedzi na e-maile w trybie human in the loop: AI pisze szkic, człowiek zatwierdza, a każda reklamacja albo ryzyko kary SLA trafia do konsultanta. Reklamacje złożone świadomie zostawiamy ludziom — tam liczą się empatia i decyzja. Koszt technologii: ok. 295 tys. zł w pierwszym roku.</a:t>
            </a:r>
          </a:p>
          <a:p/>
          <a:p>
            <a:r>
              <a:t>Uwolniony czas — ok. 45 etatów — nie oznacza zwolnień. Idzie na jakość w szczytach NORDY i na nowe projekty, a zatrudnienie dopasowuje naturalna rotacja. Szkolimy Obsługę Klienta, w której dziś przeszkolonych jest 9%.</a:t>
            </a:r>
          </a:p>
          <a:p/>
          <a:p>
            <a:r>
              <a:t>[2:40–3:00 · Decydent] Zarząd odzyskuje marżę, pracownicy dostają rozwój i bezpieczeństwo, klienci — lepszą obsługę. To nie jest AI wszędzie. To AI tam, gdzie się zwraca, i człowiek tam, gdzie decyduje. Dziękujemy.</a:t>
            </a:r>
          </a:p>
          <a:p/>
          <a:p>
            <a:r>
              <a:t>[DO DECYZJI] Arkusze 3B i 3C są puste — procesy, tryby i % skrócenia czasu to propozycja asystenta. Prawa kolumna to szkielet na Etap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0F7C7E"/>
                </a:solidFill>
                <a:latin typeface="Calibri"/>
              </a:rPr>
              <a:t>1/3  ·  DIAGNOZA · JAK JEST?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HELVIA traci 2/3 zysku operacyjnego na karach SLA — problemem jest jakość obsługi, nie cena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66160" cy="12984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64008" cy="1298448"/>
          </a:xfrm>
          <a:prstGeom prst="rect">
            <a:avLst/>
          </a:prstGeom>
          <a:solidFill>
            <a:srgbClr val="B8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3375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 i="0">
                <a:solidFill>
                  <a:srgbClr val="B83B2E"/>
                </a:solidFill>
                <a:latin typeface="Calibri"/>
              </a:rPr>
              <a:t>6,27 mln zł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13432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 i="0">
                <a:solidFill>
                  <a:srgbClr val="1C2430"/>
                </a:solidFill>
                <a:latin typeface="Calibri"/>
              </a:rPr>
              <a:t>kar SLA w 12 mies. = 65% EBIT (9,64 mln zł)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333756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850" b="0" i="0">
                <a:solidFill>
                  <a:srgbClr val="5B6775"/>
                </a:solidFill>
                <a:latin typeface="Calibri"/>
              </a:rPr>
              <a:t>Klienci!O2:O15 · Dashboard!A8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27248"/>
            <a:ext cx="3566160" cy="12984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127248"/>
            <a:ext cx="64008" cy="1298448"/>
          </a:xfrm>
          <a:prstGeom prst="rect">
            <a:avLst/>
          </a:prstGeom>
          <a:solidFill>
            <a:srgbClr val="B8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200400"/>
            <a:ext cx="33375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 i="0">
                <a:solidFill>
                  <a:srgbClr val="B83B2E"/>
                </a:solidFill>
                <a:latin typeface="Calibri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749039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 i="0">
                <a:solidFill>
                  <a:srgbClr val="1C2430"/>
                </a:solidFill>
                <a:latin typeface="Calibri"/>
              </a:rPr>
              <a:t>kar płacą 2 klienci: NORDA (4,93 mln) i Lumea (0,99 mln)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133087"/>
            <a:ext cx="333756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850" b="0" i="0">
                <a:solidFill>
                  <a:srgbClr val="5B6775"/>
                </a:solidFill>
                <a:latin typeface="Calibri"/>
              </a:rPr>
              <a:t>Klienci!O2, O9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62856"/>
            <a:ext cx="3566160" cy="12984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62856"/>
            <a:ext cx="64008" cy="12984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636008"/>
            <a:ext cx="33375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24,5%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5184648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 i="0">
                <a:solidFill>
                  <a:srgbClr val="1C2430"/>
                </a:solidFill>
                <a:latin typeface="Calibri"/>
              </a:rPr>
              <a:t>rotacji w Obsłudze Klienta (2,7× mediany) · SLA 92,1% · 53% błędów firmy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568696"/>
            <a:ext cx="3337560" cy="25603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850" b="0" i="0">
                <a:solidFill>
                  <a:srgbClr val="5B6775"/>
                </a:solidFill>
                <a:latin typeface="Calibri"/>
              </a:rPr>
              <a:t>Działy!E19, D41, C41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691640"/>
            <a:ext cx="393192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Łańcuch przyczyn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2029968"/>
            <a:ext cx="3931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2029968"/>
            <a:ext cx="64008" cy="804672"/>
          </a:xfrm>
          <a:prstGeom prst="rect">
            <a:avLst/>
          </a:prstGeom>
          <a:solidFill>
            <a:srgbClr val="B8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084832"/>
            <a:ext cx="3749039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B83B2E"/>
                </a:solidFill>
                <a:latin typeface="Calibri"/>
              </a:rPr>
              <a:t>Kary SLA 6,27 mln zł</a:t>
            </a:r>
          </a:p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marża NORDY 4,6% zamiast 23% przed karami</a:t>
            </a:r>
          </a:p>
        </p:txBody>
      </p:sp>
      <p:sp>
        <p:nvSpPr>
          <p:cNvPr id="24" name="Up Arrow 23"/>
          <p:cNvSpPr/>
          <p:nvPr/>
        </p:nvSpPr>
        <p:spPr>
          <a:xfrm>
            <a:off x="6291072" y="2852928"/>
            <a:ext cx="219456" cy="201168"/>
          </a:xfrm>
          <a:prstGeom prst="upArrow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054096"/>
            <a:ext cx="3931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054096"/>
            <a:ext cx="64008" cy="804672"/>
          </a:xfrm>
          <a:prstGeom prst="rect">
            <a:avLst/>
          </a:prstGeom>
          <a:solidFill>
            <a:srgbClr val="B8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108960"/>
            <a:ext cx="3749039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B83B2E"/>
                </a:solidFill>
                <a:latin typeface="Calibri"/>
              </a:rPr>
              <a:t>SLA poniżej umów</a:t>
            </a:r>
          </a:p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NORDA 91,0% (szczyt XI 2025: 88,9%) · Lumea 92,4%</a:t>
            </a:r>
          </a:p>
        </p:txBody>
      </p:sp>
      <p:sp>
        <p:nvSpPr>
          <p:cNvPr id="28" name="Up Arrow 27"/>
          <p:cNvSpPr/>
          <p:nvPr/>
        </p:nvSpPr>
        <p:spPr>
          <a:xfrm>
            <a:off x="6291072" y="3877056"/>
            <a:ext cx="219456" cy="201168"/>
          </a:xfrm>
          <a:prstGeom prst="upArrow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4078224"/>
            <a:ext cx="3931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078224"/>
            <a:ext cx="64008" cy="8046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133088"/>
            <a:ext cx="3749039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Przeciążona Obsługa Klienta</a:t>
            </a:r>
          </a:p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34% juniorów · 23% ze stażem &lt; 1 roku · eNPS −64</a:t>
            </a:r>
          </a:p>
        </p:txBody>
      </p:sp>
      <p:sp>
        <p:nvSpPr>
          <p:cNvPr id="32" name="Up Arrow 31"/>
          <p:cNvSpPr/>
          <p:nvPr/>
        </p:nvSpPr>
        <p:spPr>
          <a:xfrm>
            <a:off x="6291072" y="4901184"/>
            <a:ext cx="219456" cy="201168"/>
          </a:xfrm>
          <a:prstGeom prst="upArrow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5102352"/>
            <a:ext cx="3931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5102352"/>
            <a:ext cx="64008" cy="8046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5157216"/>
            <a:ext cx="3749039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Lęk i brak wsparcia</a:t>
            </a:r>
          </a:p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82% boi się o etat (Q20) · przeszkolonych z AI: 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6035040"/>
            <a:ext cx="393192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 i="0">
                <a:solidFill>
                  <a:srgbClr val="5B6775"/>
                </a:solidFill>
                <a:latin typeface="Calibri"/>
              </a:rPr>
              <a:t>Strzałka: co jest przyczyną czego (od dołu do góry)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691640"/>
            <a:ext cx="2999232" cy="4526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1783080"/>
            <a:ext cx="27432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3 priorytety zarządu</a:t>
            </a:r>
          </a:p>
        </p:txBody>
      </p:sp>
      <p:sp>
        <p:nvSpPr>
          <p:cNvPr id="39" name="Oval 38"/>
          <p:cNvSpPr/>
          <p:nvPr/>
        </p:nvSpPr>
        <p:spPr>
          <a:xfrm>
            <a:off x="8851392" y="2212848"/>
            <a:ext cx="384048" cy="384048"/>
          </a:xfrm>
          <a:prstGeom prst="ellipse">
            <a:avLst/>
          </a:prstGeom>
          <a:solidFill>
            <a:srgbClr val="0F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176272"/>
            <a:ext cx="22860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1C2430"/>
                </a:solidFill>
                <a:latin typeface="Calibri"/>
              </a:rPr>
              <a:t>Jakość SLA u NORDY i Lumei</a:t>
            </a:r>
          </a:p>
          <a:p>
            <a:pPr algn="l"/>
            <a:r>
              <a:rPr sz="1050" b="0" i="0">
                <a:solidFill>
                  <a:srgbClr val="5B6775"/>
                </a:solidFill>
                <a:latin typeface="Calibri"/>
              </a:rPr>
              <a:t>przed rozmową o cenie</a:t>
            </a:r>
          </a:p>
        </p:txBody>
      </p:sp>
      <p:sp>
        <p:nvSpPr>
          <p:cNvPr id="41" name="Oval 40"/>
          <p:cNvSpPr/>
          <p:nvPr/>
        </p:nvSpPr>
        <p:spPr>
          <a:xfrm>
            <a:off x="8851392" y="3172968"/>
            <a:ext cx="384048" cy="384048"/>
          </a:xfrm>
          <a:prstGeom prst="ellipse">
            <a:avLst/>
          </a:prstGeom>
          <a:solidFill>
            <a:srgbClr val="0F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136391"/>
            <a:ext cx="22860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1C2430"/>
                </a:solidFill>
                <a:latin typeface="Calibri"/>
              </a:rPr>
              <a:t>Ludzie w Obsłudze Klienta</a:t>
            </a:r>
          </a:p>
          <a:p>
            <a:pPr algn="l"/>
            <a:r>
              <a:rPr sz="1050" b="0" i="0">
                <a:solidFill>
                  <a:srgbClr val="5B6775"/>
                </a:solidFill>
                <a:latin typeface="Calibri"/>
              </a:rPr>
              <a:t>stabilny zespół = mniej błędów</a:t>
            </a:r>
          </a:p>
        </p:txBody>
      </p:sp>
      <p:sp>
        <p:nvSpPr>
          <p:cNvPr id="43" name="Oval 42"/>
          <p:cNvSpPr/>
          <p:nvPr/>
        </p:nvSpPr>
        <p:spPr>
          <a:xfrm>
            <a:off x="8851392" y="4133087"/>
            <a:ext cx="384048" cy="384048"/>
          </a:xfrm>
          <a:prstGeom prst="ellipse">
            <a:avLst/>
          </a:prstGeom>
          <a:solidFill>
            <a:srgbClr val="0F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096511"/>
            <a:ext cx="22860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1" i="0">
                <a:solidFill>
                  <a:srgbClr val="1C2430"/>
                </a:solidFill>
                <a:latin typeface="Calibri"/>
              </a:rPr>
              <a:t>Odciążenie Finansów</a:t>
            </a:r>
          </a:p>
          <a:p>
            <a:pPr algn="l"/>
            <a:r>
              <a:rPr sz="1050" b="0" i="0">
                <a:solidFill>
                  <a:srgbClr val="5B6775"/>
                </a:solidFill>
                <a:latin typeface="Calibri"/>
              </a:rPr>
              <a:t>140 h nadgodzin/mies. · obciążenie Q09 = 2,6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5120640"/>
            <a:ext cx="274320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1" i="0">
                <a:solidFill>
                  <a:srgbClr val="1C2430"/>
                </a:solidFill>
                <a:latin typeface="Calibri"/>
              </a:rPr>
              <a:t>Świadomie odkładamy: </a:t>
            </a:r>
            <a:r>
              <a:rPr sz="1050" b="0" i="0">
                <a:solidFill>
                  <a:srgbClr val="1C2430"/>
                </a:solidFill>
                <a:latin typeface="Calibri"/>
              </a:rPr>
              <a:t>ogon nierentownych klientów (Ibera −1,8%, Sørvik 2,1%) — wracamy przy odnowieniach w 2027.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23960" y="1371600"/>
            <a:ext cx="2743200" cy="256032"/>
          </a:xfrm>
          <a:prstGeom prst="roundRect">
            <a:avLst/>
          </a:prstGeom>
          <a:solidFill>
            <a:srgbClr val="FDF3E1"/>
          </a:solidFill>
          <a:ln w="9525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C77C0E"/>
                </a:solidFill>
                <a:latin typeface="Calibri"/>
              </a:rPr>
              <a:t>1C DO POTWIERDZENIA PRZEZ ZESPÓŁ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400800"/>
            <a:ext cx="11183112" cy="9144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37376"/>
            <a:ext cx="87782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 i="0">
                <a:solidFill>
                  <a:srgbClr val="5B6775"/>
                </a:solidFill>
                <a:latin typeface="Calibri"/>
              </a:rPr>
              <a:t>Źródła: HITL_Etap_1 — Klienci, Działy, Historia miesięczna, ankieta (513 odp.). Liczby z 1B (S1, S3, S4–S5, S8).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0F7C7E"/>
                </a:solidFill>
                <a:latin typeface="Calibri"/>
              </a:rPr>
              <a:t>2/3  ·  DECYZJA · JAK MOŻE BYĆ?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Nie kupujemy lojalności NORDY rabatem — naprawiamy jakość i rośniemy tam, gdzie etat zarabia najwięcej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NORDA żąda −12% ceny. Odpowiedź: negocjujemy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539496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93976"/>
            <a:ext cx="265176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Rabat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93976"/>
            <a:ext cx="11430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Calibri"/>
              </a:rPr>
              <a:t>Stawka / 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93976"/>
            <a:ext cx="16002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Calibri"/>
              </a:rPr>
              <a:t>Marża NORDY / rok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59736"/>
            <a:ext cx="5394960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96312"/>
            <a:ext cx="265176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0" i="0">
                <a:solidFill>
                  <a:srgbClr val="1C2430"/>
                </a:solidFill>
                <a:latin typeface="Calibri"/>
              </a:rPr>
              <a:t>0% teraz + 90-dniowy plan 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96312"/>
            <a:ext cx="11430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0" i="0">
                <a:solidFill>
                  <a:srgbClr val="1C2430"/>
                </a:solidFill>
                <a:latin typeface="Calibri"/>
              </a:rPr>
              <a:t>38,70 zł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96312"/>
            <a:ext cx="16002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1" i="0">
                <a:solidFill>
                  <a:srgbClr val="1C2430"/>
                </a:solidFill>
                <a:latin typeface="Calibri"/>
              </a:rPr>
              <a:t>+1,22 mln zł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62072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98648"/>
            <a:ext cx="265176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0" i="0">
                <a:solidFill>
                  <a:srgbClr val="1C2430"/>
                </a:solidFill>
                <a:latin typeface="Calibri"/>
              </a:rPr>
              <a:t>4% od II kw. 2027 (za warunki)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898648"/>
            <a:ext cx="11430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0" i="0">
                <a:solidFill>
                  <a:srgbClr val="1C2430"/>
                </a:solidFill>
                <a:latin typeface="Calibri"/>
              </a:rPr>
              <a:t>37,15 zł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98648"/>
            <a:ext cx="16002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1" i="0">
                <a:solidFill>
                  <a:srgbClr val="1C2430"/>
                </a:solidFill>
                <a:latin typeface="Calibri"/>
              </a:rPr>
              <a:t>+0,16 mln zł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64408"/>
            <a:ext cx="5394960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00984"/>
            <a:ext cx="265176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0" i="0">
                <a:solidFill>
                  <a:srgbClr val="1C2430"/>
                </a:solidFill>
                <a:latin typeface="Calibri"/>
              </a:rPr>
              <a:t>4,6% — próg rentowności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300984"/>
            <a:ext cx="11430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0" i="0">
                <a:solidFill>
                  <a:srgbClr val="1C2430"/>
                </a:solidFill>
                <a:latin typeface="Calibri"/>
              </a:rPr>
              <a:t>36,92 zł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300984"/>
            <a:ext cx="16002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1" i="0">
                <a:solidFill>
                  <a:srgbClr val="1C2430"/>
                </a:solidFill>
                <a:latin typeface="Calibri"/>
              </a:rPr>
              <a:t>0 zł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66744"/>
            <a:ext cx="5394960" cy="384048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03320"/>
            <a:ext cx="265176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0" i="0">
                <a:solidFill>
                  <a:srgbClr val="1C2430"/>
                </a:solidFill>
                <a:latin typeface="Calibri"/>
              </a:rPr>
              <a:t>12% — żądanie NORDY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703320"/>
            <a:ext cx="11430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0" i="0">
                <a:solidFill>
                  <a:srgbClr val="1C2430"/>
                </a:solidFill>
                <a:latin typeface="Calibri"/>
              </a:rPr>
              <a:t>34,06 zł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03320"/>
            <a:ext cx="16002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50" b="1" i="0">
                <a:solidFill>
                  <a:srgbClr val="B83B2E"/>
                </a:solidFill>
                <a:latin typeface="Calibri"/>
              </a:rPr>
              <a:t>−1,96 mln zł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14800"/>
            <a:ext cx="539496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C2430"/>
                </a:solidFill>
                <a:latin typeface="Calibri"/>
              </a:rPr>
              <a:t>W zamian oczekujemy: </a:t>
            </a:r>
            <a:r>
              <a:rPr sz="1150" b="0" i="0">
                <a:solidFill>
                  <a:srgbClr val="1C2430"/>
                </a:solidFill>
                <a:latin typeface="Calibri"/>
              </a:rPr>
              <a:t>przedłużenia o 3 lata, minimalnego wolumenu, prognozy szczytów, limitu kar i podziału oszczędności z automatyzacji.</a:t>
            </a:r>
          </a:p>
          <a:p>
            <a:pPr algn="l"/>
            <a:r>
              <a:rPr sz="1150" b="1" i="0">
                <a:solidFill>
                  <a:srgbClr val="1C2430"/>
                </a:solidFill>
                <a:latin typeface="Calibri"/>
              </a:rPr>
              <a:t>Argument: </a:t>
            </a:r>
            <a:r>
              <a:rPr sz="1150" b="0" i="0">
                <a:solidFill>
                  <a:srgbClr val="1C2430"/>
                </a:solidFill>
                <a:latin typeface="Calibri"/>
              </a:rPr>
              <a:t>kary SLA NORDY (4,93 mln zł) są 4× większe niż jej marża — naprawa jakości daje więcej niż jakikolwiek ruch cenowy.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5394960" cy="7772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516636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B83B2E"/>
                </a:solidFill>
                <a:latin typeface="Calibri"/>
              </a:rPr>
              <a:t>Plan B: </a:t>
            </a:r>
            <a:r>
              <a:rPr sz="1100" b="0" i="0">
                <a:solidFill>
                  <a:srgbClr val="1C2430"/>
                </a:solidFill>
                <a:latin typeface="Calibri"/>
              </a:rPr>
              <a:t>nie schodzimy poniżej 4,6%. Jeśli NORDA odejdzie, ok. 51 etatów przechodzi do S-02, S-01 i S-10 (ok. 15) oraz naturalnej rotacji — przesunięcia zamiast zwolnień.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691640"/>
            <a:ext cx="5422392" cy="4526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783080"/>
            <a:ext cx="52120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Kierunek: wartość zamiast wolumenu</a:t>
            </a:r>
          </a:p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analityka i usługi oparte na AI dla obecnych klientów, realizowane przez działy gotowe na zmianę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450592"/>
            <a:ext cx="51480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2505456"/>
            <a:ext cx="6400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0F7C7E"/>
                </a:solidFill>
                <a:latin typeface="Calibri"/>
              </a:rPr>
              <a:t>S-03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505456"/>
            <a:ext cx="2651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C2430"/>
                </a:solidFill>
                <a:latin typeface="Calibri"/>
              </a:rPr>
              <a:t>Analityka operacyjna</a:t>
            </a:r>
            <a:r>
              <a:rPr sz="1150" b="0" i="0">
                <a:solidFill>
                  <a:srgbClr val="5B6775"/>
                </a:solidFill>
                <a:latin typeface="Calibri"/>
              </a:rPr>
              <a:t> · Quenta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505456"/>
            <a:ext cx="2103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50" b="0" i="0">
                <a:solidFill>
                  <a:srgbClr val="5B6775"/>
                </a:solidFill>
                <a:latin typeface="Calibri"/>
              </a:rPr>
              <a:t>80% · marża 21% · 2,1 etatu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962656"/>
            <a:ext cx="51480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017520"/>
            <a:ext cx="6400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0F7C7E"/>
                </a:solidFill>
                <a:latin typeface="Calibri"/>
              </a:rPr>
              <a:t>S-20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017520"/>
            <a:ext cx="2651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C2430"/>
                </a:solidFill>
                <a:latin typeface="Calibri"/>
              </a:rPr>
              <a:t>Analiza danych</a:t>
            </a:r>
            <a:r>
              <a:rPr sz="1150" b="0" i="0">
                <a:solidFill>
                  <a:srgbClr val="5B6775"/>
                </a:solidFill>
                <a:latin typeface="Calibri"/>
              </a:rPr>
              <a:t> · Quenta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017520"/>
            <a:ext cx="2103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50" b="0" i="0">
                <a:solidFill>
                  <a:srgbClr val="5B6775"/>
                </a:solidFill>
                <a:latin typeface="Calibri"/>
              </a:rPr>
              <a:t>70% · marża 23% · 3,0 etatu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474720"/>
            <a:ext cx="51480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3529584"/>
            <a:ext cx="6400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0F7C7E"/>
                </a:solidFill>
                <a:latin typeface="Calibri"/>
              </a:rPr>
              <a:t>S-14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529584"/>
            <a:ext cx="26517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C2430"/>
                </a:solidFill>
                <a:latin typeface="Calibri"/>
              </a:rPr>
              <a:t>Lejek sprzedaży i ofertowanie</a:t>
            </a:r>
            <a:r>
              <a:rPr sz="1150" b="0" i="0">
                <a:solidFill>
                  <a:srgbClr val="5B6775"/>
                </a:solidFill>
                <a:latin typeface="Calibri"/>
              </a:rPr>
              <a:t> · Pilawa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529584"/>
            <a:ext cx="2103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50" b="0" i="0">
                <a:solidFill>
                  <a:srgbClr val="5B6775"/>
                </a:solidFill>
                <a:latin typeface="Calibri"/>
              </a:rPr>
              <a:t>80% · marża 18% · 3,5 etatu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041648"/>
            <a:ext cx="51206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C2430"/>
                </a:solidFill>
                <a:latin typeface="Calibri"/>
              </a:rPr>
              <a:t>Oczekiwana marża na etat (tys. zł)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370832"/>
            <a:ext cx="1783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0" i="0">
                <a:solidFill>
                  <a:srgbClr val="1C2430"/>
                </a:solidFill>
                <a:latin typeface="Calibri"/>
              </a:rPr>
              <a:t>Nasz kierunek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416552"/>
            <a:ext cx="2834640" cy="219456"/>
          </a:xfrm>
          <a:prstGeom prst="rect">
            <a:avLst/>
          </a:prstGeom>
          <a:solidFill>
            <a:srgbClr val="0F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09960" y="4370832"/>
            <a:ext cx="54864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0F7C7E"/>
                </a:solidFill>
                <a:latin typeface="Calibri"/>
              </a:rPr>
              <a:t>87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718304"/>
            <a:ext cx="1783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0" i="0">
                <a:solidFill>
                  <a:srgbClr val="1C2430"/>
                </a:solidFill>
                <a:latin typeface="Calibri"/>
              </a:rPr>
              <a:t>Projekty Finansów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764024"/>
            <a:ext cx="1335864" cy="219456"/>
          </a:xfrm>
          <a:prstGeom prst="rect">
            <a:avLst/>
          </a:prstGeom>
          <a:solidFill>
            <a:srgbClr val="5B6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11184" y="4718304"/>
            <a:ext cx="54864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5B6775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065776"/>
            <a:ext cx="1783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0" i="0">
                <a:solidFill>
                  <a:srgbClr val="1C2430"/>
                </a:solidFill>
                <a:latin typeface="Calibri"/>
              </a:rPr>
              <a:t>Projekty Obsługi Klienta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111496"/>
            <a:ext cx="553895" cy="219456"/>
          </a:xfrm>
          <a:prstGeom prst="rect">
            <a:avLst/>
          </a:prstGeom>
          <a:solidFill>
            <a:srgbClr val="B8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9215" y="5065776"/>
            <a:ext cx="54864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B83B2E"/>
                </a:solidFill>
                <a:latin typeface="Calibri"/>
              </a:rPr>
              <a:t>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440680"/>
            <a:ext cx="521208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B83B2E"/>
                </a:solidFill>
                <a:latin typeface="Calibri"/>
              </a:rPr>
              <a:t>Kosztem: </a:t>
            </a:r>
            <a:r>
              <a:rPr sz="1100" b="0" i="0">
                <a:solidFill>
                  <a:srgbClr val="1C2430"/>
                </a:solidFill>
                <a:latin typeface="Calibri"/>
              </a:rPr>
              <a:t>ekspansji Obsługi Klienta (S-02, S-09, S-12, S-19: ok. 25 etatów), nowych dużych klientów (S-06, S-22) i przesunięcia S-01 Kastella na II kw. 2027 — po pilotażu automatyzacji w Finansach.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400800"/>
            <a:ext cx="11183112" cy="9144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6437376"/>
            <a:ext cx="87782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 i="0">
                <a:solidFill>
                  <a:srgbClr val="5B6775"/>
                </a:solidFill>
                <a:latin typeface="Calibri"/>
              </a:rPr>
              <a:t>Źródła: FINAL_HIL_Etap_2 — 2A G37:L43 (scenariusze NORDY), 2A A6:L27 (pipeline: wartość × szansa × marża / etaty), 2B C12–C22.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5480" y="6455664"/>
            <a:ext cx="2130552" cy="256032"/>
          </a:xfrm>
          <a:prstGeom prst="roundRect">
            <a:avLst/>
          </a:prstGeom>
          <a:solidFill>
            <a:srgbClr val="FDF3E1"/>
          </a:solidFill>
          <a:ln w="9525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C77C0E"/>
                </a:solidFill>
                <a:latin typeface="Calibri"/>
              </a:rPr>
              <a:t>RYZYKO: 3,7 MLN vs 26,4 MLN NORDY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0F7C7E"/>
                </a:solidFill>
                <a:latin typeface="Calibri"/>
              </a:rPr>
              <a:t>3/3  ·  CZŁOWIEK + AI · A CO Z LUDŹMI?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AI przejmuje rutynę w 3 procesach, człowiek zostaje przy decyzjach — uwolniony czas idzie w jakość i wzrost, nie w zwolnienia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400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Pierwsza fala AI (Etap 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00784"/>
            <a:ext cx="2194560" cy="256032"/>
          </a:xfrm>
          <a:prstGeom prst="roundRect">
            <a:avLst/>
          </a:prstGeom>
          <a:solidFill>
            <a:srgbClr val="FDF3E1"/>
          </a:solidFill>
          <a:ln w="9525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C77C0E"/>
                </a:solidFill>
                <a:latin typeface="Calibri"/>
              </a:rPr>
              <a:t>3B / 3C DO DECYZJI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64008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20574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84831"/>
            <a:ext cx="132588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Tryb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84831"/>
            <a:ext cx="118872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Uwolnione h/m*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084831"/>
            <a:ext cx="18288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Po co (strategia)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32888"/>
            <a:ext cx="640080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20574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P-001 Rejestracja faktur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560320"/>
            <a:ext cx="132588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Automat + wyjątki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560320"/>
            <a:ext cx="118872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3 554 (22 et.)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560320"/>
            <a:ext cx="18288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050" b="0" i="0">
                <a:solidFill>
                  <a:srgbClr val="1C2430"/>
                </a:solidFill>
                <a:latin typeface="Calibri"/>
              </a:rPr>
              <a:t>Odciąża Finanse → odblokowuje S-01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35808"/>
            <a:ext cx="20574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P-012 E-maile klientów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035808"/>
            <a:ext cx="132588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HITL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035808"/>
            <a:ext cx="118872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2 825 (18 et.)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035808"/>
            <a:ext cx="18288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050" b="0" i="0">
                <a:solidFill>
                  <a:srgbClr val="1C2430"/>
                </a:solidFill>
                <a:latin typeface="Calibri"/>
              </a:rPr>
              <a:t>Plan SLA dla NORDY w szczytach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83864"/>
            <a:ext cx="640080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11296"/>
            <a:ext cx="20574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P-039 Oferty handlowe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511296"/>
            <a:ext cx="132588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Asystent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511296"/>
            <a:ext cx="118872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854 (5 et.)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511296"/>
            <a:ext cx="18288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050" b="0" i="0">
                <a:solidFill>
                  <a:srgbClr val="1C2430"/>
                </a:solidFill>
                <a:latin typeface="Calibri"/>
              </a:rPr>
              <a:t>Wspiera S-14 Pilawa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59352"/>
            <a:ext cx="6400800" cy="457200"/>
          </a:xfrm>
          <a:prstGeom prst="rect">
            <a:avLst/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86784"/>
            <a:ext cx="20574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0F7C7E"/>
                </a:solidFill>
                <a:latin typeface="Calibri"/>
              </a:rPr>
              <a:t>P-015 Reklamacje złożone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986784"/>
            <a:ext cx="132588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0F7C7E"/>
                </a:solidFill>
                <a:latin typeface="Calibri"/>
              </a:rPr>
              <a:t>Zostaje u człowieka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986784"/>
            <a:ext cx="118872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100" b="0" i="0">
                <a:solidFill>
                  <a:srgbClr val="1C2430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986784"/>
            <a:ext cx="1828800" cy="42062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1050" b="0" i="0">
                <a:solidFill>
                  <a:srgbClr val="1C2430"/>
                </a:solidFill>
                <a:latin typeface="Calibri"/>
              </a:rPr>
              <a:t>Empatia i decyzja; 31% w OK: „trudne rozmowy”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26280"/>
            <a:ext cx="6400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HITL dla P-012: kto decyduje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846320"/>
            <a:ext cx="201168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892040"/>
            <a:ext cx="1874519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0F7C7E"/>
                </a:solidFill>
                <a:latin typeface="Calibri"/>
              </a:rPr>
              <a:t>AI</a:t>
            </a:r>
          </a:p>
          <a:p>
            <a:pPr algn="l"/>
            <a:r>
              <a:rPr sz="1000" b="0" i="0">
                <a:solidFill>
                  <a:srgbClr val="1C2430"/>
                </a:solidFill>
                <a:latin typeface="Calibri"/>
              </a:rPr>
              <a:t>klasyfikuje e-mail i pisze szkic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532888" y="5184648"/>
            <a:ext cx="164592" cy="201168"/>
          </a:xfrm>
          <a:prstGeom prst="rightArrow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97480" y="4846320"/>
            <a:ext cx="201168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70632" y="4892040"/>
            <a:ext cx="1874519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Człowiek</a:t>
            </a:r>
          </a:p>
          <a:p>
            <a:pPr algn="l"/>
            <a:r>
              <a:rPr sz="1000" b="0" i="0">
                <a:solidFill>
                  <a:srgbClr val="1C2430"/>
                </a:solidFill>
                <a:latin typeface="Calibri"/>
              </a:rPr>
              <a:t>zatwierdza / poprawia przed wysyłką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727448" y="5184648"/>
            <a:ext cx="164592" cy="201168"/>
          </a:xfrm>
          <a:prstGeom prst="rightArrow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92040" y="4846320"/>
            <a:ext cx="201168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65192" y="4892040"/>
            <a:ext cx="1874519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C77C0E"/>
                </a:solidFill>
                <a:latin typeface="Calibri"/>
              </a:rPr>
              <a:t>Eskalacja</a:t>
            </a:r>
          </a:p>
          <a:p>
            <a:pPr algn="l"/>
            <a:r>
              <a:rPr sz="1000" b="0" i="0">
                <a:solidFill>
                  <a:srgbClr val="1C2430"/>
                </a:solidFill>
                <a:latin typeface="Calibri"/>
              </a:rPr>
              <a:t>reklamacja, groźba kary SLA, klient NORDA w szczycie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779008"/>
            <a:ext cx="6400800" cy="5669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Koszt technologii rok 1: </a:t>
            </a:r>
            <a:r>
              <a:rPr sz="1100" b="0" i="0">
                <a:solidFill>
                  <a:srgbClr val="1C2430"/>
                </a:solidFill>
                <a:latin typeface="Calibri"/>
              </a:rPr>
              <a:t>ok. 295 tys. zł z limitu 300 tys. zł </a:t>
            </a:r>
            <a:r>
              <a:rPr sz="1000" b="0" i="0">
                <a:solidFill>
                  <a:srgbClr val="5B6775"/>
                </a:solidFill>
                <a:latin typeface="Calibri"/>
              </a:rPr>
              <a:t>(3D: Operacje 111 tys. · Hybryda 150 tys. · Asystent 33 tys.)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1691640"/>
            <a:ext cx="4507992" cy="4526280"/>
          </a:xfrm>
          <a:prstGeom prst="rect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1783080"/>
            <a:ext cx="42976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A co z ludźmi? (Etap 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12680" y="1801368"/>
            <a:ext cx="1554480" cy="256032"/>
          </a:xfrm>
          <a:prstGeom prst="roundRect">
            <a:avLst/>
          </a:prstGeom>
          <a:solidFill>
            <a:srgbClr val="FDF3E1"/>
          </a:solidFill>
          <a:ln w="9525">
            <a:solidFill>
              <a:srgbClr val="C77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C77C0E"/>
                </a:solidFill>
                <a:latin typeface="Calibri"/>
              </a:rPr>
              <a:t>UZUPEŁNIĆ W E4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2194560"/>
            <a:ext cx="429768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600" b="1" i="0">
                <a:solidFill>
                  <a:srgbClr val="0F7C7E"/>
                </a:solidFill>
                <a:latin typeface="Calibri"/>
              </a:rPr>
              <a:t>ok. 45 etatów-ekw.</a:t>
            </a:r>
          </a:p>
          <a:p>
            <a:pPr algn="l"/>
            <a:r>
              <a:rPr sz="1100" b="0" i="0">
                <a:solidFill>
                  <a:srgbClr val="5B6775"/>
                </a:solidFill>
                <a:latin typeface="Calibri"/>
              </a:rPr>
              <a:t>uwolnionego czasu miesięcznie (hipoteza*)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127248"/>
            <a:ext cx="4297680" cy="5669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Gdzie trafia czas: </a:t>
            </a:r>
            <a:r>
              <a:rPr sz="1050" b="0" i="0">
                <a:solidFill>
                  <a:srgbClr val="1C2430"/>
                </a:solidFill>
                <a:latin typeface="Calibri"/>
              </a:rPr>
              <a:t>stabilizacja SLA w szczytach NORDY · S-01 Kastella (6,5 et.) · projekty kierunku (8,6 et.)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730752"/>
            <a:ext cx="4297680" cy="5669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Zero zwolnień: </a:t>
            </a:r>
            <a:r>
              <a:rPr sz="1050" b="0" i="0">
                <a:solidFill>
                  <a:srgbClr val="1C2430"/>
                </a:solidFill>
                <a:latin typeface="Calibri"/>
              </a:rPr>
              <a:t>dopasowanie przez naturalną rotację i wstrzymanie rekrutacji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334256"/>
            <a:ext cx="4297680" cy="5669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Szkolenia: </a:t>
            </a:r>
            <a:r>
              <a:rPr sz="1050" b="0" i="0">
                <a:solidFill>
                  <a:srgbClr val="1C2430"/>
                </a:solidFill>
                <a:latin typeface="Calibri"/>
              </a:rPr>
              <a:t>Obsługa Klienta: 9% → [cel] · Finanse: 17% → [cel] · IT jako ambasadorzy (73%)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937760"/>
            <a:ext cx="4297680" cy="5669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Komunikacja: </a:t>
            </a:r>
            <a:r>
              <a:rPr sz="1050" b="0" i="0">
                <a:solidFill>
                  <a:srgbClr val="1C2430"/>
                </a:solidFill>
                <a:latin typeface="Calibri"/>
              </a:rPr>
              <a:t>polityka AI i jasne role — dziś 6,8% widzi jasną komunikację (Q21)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541264"/>
            <a:ext cx="4297680" cy="5669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1C2430"/>
                </a:solidFill>
                <a:latin typeface="Calibri"/>
              </a:rPr>
              <a:t>3 KPI na 12 mies.: </a:t>
            </a:r>
            <a:r>
              <a:rPr sz="1050" b="0" i="0">
                <a:solidFill>
                  <a:srgbClr val="1C2430"/>
                </a:solidFill>
                <a:latin typeface="Calibri"/>
              </a:rPr>
              <a:t>SLA OK 92,1% → [cel] · kary −[x]% · rotacja OK 24,5% → [cel]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400800"/>
            <a:ext cx="11183112" cy="9144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437376"/>
            <a:ext cx="87782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 i="0">
                <a:solidFill>
                  <a:srgbClr val="5B6775"/>
                </a:solidFill>
                <a:latin typeface="Calibri"/>
              </a:rPr>
              <a:t>* Hipoteza skrócenia czasu [ZAŁOŻENIE]: P-001 −60%, P-012 −40%, P-039 −30% godzin z 3A; 1 etat = 160 h/m. Źródła: Etap 3 — 3A (wolumeny, godziny), 3D (cennik), karty procesów DOCX; ankieta Q16, Q21, Q26.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