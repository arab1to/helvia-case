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 · Strateg] Problem HELVII to nie technologia ani cena, tylko jakość obsługi. Kary SLA zabrały w rok 6,27 mln zł — dwie trzecie zysku operacyjnego.</a:t>
            </a:r>
          </a:p>
          <a:p/>
          <a:p>
            <a:r>
              <a:t>[0:20–1:00 · Analityk danych] 94% tych kar płacą dwaj klienci: NORDA i Lumea. Obsługuje ich głównie Obsługa Klienta — dział z rotacją 24,5%, najniższym SLA w firmie i ponad połową wszystkich błędów. Co trzecia osoba to junior, prawie co czwarta pracuje krócej niż rok, a 82% boi się, że AI zabierze im pracę. Przeszkolonych z AI jest tam 9%. Dlatego nasze trzy priorytety to: jakość u NORDY i Lumei, ludzie w Obsłudze Klienta i odciążenie Finansów, które mają najwięcej nadgodzin w firmie.</a:t>
            </a:r>
          </a:p>
          <a:p/>
          <a:p>
            <a:r>
              <a:t>[DO DECYZJI] Arkusz 1C w pliku jest pusty — potwierdźcie 3 priorytety i wpiszcie je w 1C (S1, S3, S8 z waszego 1B).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[1:00–1:50 · Strateg] NORDA żąda obniżki o 12%. Przy marży 4,6% każdy rabat powyżej 4,6% oznacza stratę na każdej operacji — 12% to minus 1,96 mln zł rocznie. Dlatego negocjujemy: teraz zero rabatu i 90-dniowy plan naprawy SLA, a od drugiego kwartału 2027 do 4% — w zamian za przedłużenie o 3 lata, prognozę szczytów i limit kar. Kary NORDY są cztery razy większe niż jej marża, więc jakość daje więcej niż cena.</a:t>
            </a:r>
          </a:p>
          <a:p/>
          <a:p>
            <a:r>
              <a:t>Jednocześnie stawiamy na wartość zamiast wolumenu: trzy projekty analityczne i sprzedażowe dla Quenty i Pilawy. Dają 87 tys. zł marży na etat, pięć razy więcej niż projekty w Obsłudze Klienta. Robimy to kosztem rozbudowy Obsługi Klienta i nowych dużych klientów.</a:t>
            </a:r>
          </a:p>
          <a:p/>
          <a:p>
            <a:r>
              <a:t>[DO WERYFIKACJI] Start S-03 w danych to 24.12.2027 przy decyzji do 15.11.2026 — potwierdźcie z mentorem. Komórka 2B C24 pokazuje #NAME? (funkcja MINIFS) — sprawdźcie w Excelu przed oddaniem.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[1:50–2:40 · Analityk ludzi i ryzyk] Nasza zasada: AI przygotowuje, człowiek decyduje. Wdrażamy ją tam, gdzie powstają kary. Przy reklamacjach AI proponuje kategorię i priorytet, a zatwierdza konsultant. Gdy AI nie jest pewne na 80%, sprawę od razu przejmuje człowiek. E-mail pisze AI, a podpisuje człowiek. Faktury rejestruje automat, a wyjątki obsługują księgowi. Decyzje reklamacyjne zostają u ludzi. Koszt: 222 tys. zł z 300 tys. limitu.</a:t>
            </a:r>
          </a:p>
          <a:p/>
          <a:p>
            <a:r>
              <a:t>Zmiana obejmuje 96 etatów, a większość konsultantów boi się o pracę. Dlatego zaczynamy od ludzi: gwarancja, że przez rok nikt nie straci pracy z powodu AI, i jasne zasady. Potem pilotaż z ochotnikami z zespołu NORDY. Rozszerzamy dopiero, gdy trafność AI przekracza 90%, a SLA nie spada. Uwolniony czas idzie na szczyty NORDY i projekt dla Kastelli, a trzy nowe role obsadzamy z wewnątrz. Po roku: SLA NORDY 95%, 80% aktywnych kont AI i mniej lęku o pracę.</a:t>
            </a:r>
          </a:p>
          <a:p/>
          <a:p>
            <a:r>
              <a:t>[2:40–3:00 · Decydent] Zarząd odzyskuje marżę, pracownicy dostają rozwój i bezpieczeństwo, klienci — lepszą obsługę. To nie jest AI wszędzie. To AI tam, gdzie się zwraca, i człowiek tam, gdzie decyduje. Dziękujemy.</a:t>
            </a:r>
          </a:p>
          <a:p/>
          <a:p>
            <a:r>
              <a:t>[DECYZJA ZESPOŁU — 3B/3C, 4A–4C] Procesy P-014, P-012, P-001 + P-015 u człowieka; fazy i bramy z 4B; KPI z 4C; gwarancja 0 zwolnień z powodu AI przez 12 mies. (4B C12).</a:t>
            </a:r>
          </a:p>
          <a:p>
            <a:r>
              <a:t>[DO WERYFIKACJI] 36 etatów liczono na godzinach z arkusza 3A z pliku Etapu 3 (P-001 5 924 h, P-012 7 062 h, P-014 2 362 h). W pliku Etapu 4 arkusz 3A liczy godziny z „Wolumeny klient proces” i daje 1 656,5 / 4 470,1 / 1 494,9 h → przy tych samych hipotezach 2 617,8 h = 16,4 etatu. Potwierdźcie z mentorem, który 3A obowiązuje.</a:t>
            </a:r>
          </a:p>
          <a:p>
            <a:r>
              <a:t>[PYTANIE JURY] 4A G19: decyzja o nieobsadzaniu wakatów z rotacji (ok. 50 odejść/rok w OK) zapada po mies. 6 — przygotujcie odpowiedź, czy to „redukcja przez rotację”.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1/3  ·  DIAGNOZA · JAK JEST?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HELVIA traci 2/3 zysku operacyjnego na karach SLA — problemem jest jakość obsługi, nie cena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3566160" cy="12984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64008" cy="1298448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764792"/>
            <a:ext cx="33375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000" b="1" i="0">
                <a:solidFill>
                  <a:srgbClr val="B83B2E"/>
                </a:solidFill>
                <a:latin typeface="Calibri"/>
              </a:rPr>
              <a:t>6,27 mln zł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313432"/>
            <a:ext cx="3337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C2430"/>
                </a:solidFill>
                <a:latin typeface="Calibri"/>
              </a:rPr>
              <a:t>kar SLA w 12 mies. = 65% EBIT (9,64 mln zł)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333756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850" b="0" i="0">
                <a:solidFill>
                  <a:srgbClr val="5B6775"/>
                </a:solidFill>
                <a:latin typeface="Calibri"/>
              </a:rPr>
              <a:t>Klienci!O2:O15 · Dashboard!A8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27248"/>
            <a:ext cx="3566160" cy="12984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127248"/>
            <a:ext cx="64008" cy="1298448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3200400"/>
            <a:ext cx="33375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000" b="1" i="0">
                <a:solidFill>
                  <a:srgbClr val="B83B2E"/>
                </a:solidFill>
                <a:latin typeface="Calibri"/>
              </a:rPr>
              <a:t>94%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749039"/>
            <a:ext cx="3337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C2430"/>
                </a:solidFill>
                <a:latin typeface="Calibri"/>
              </a:rPr>
              <a:t>kar płacą 2 klienci: NORDA (4,93 mln) i Lumea (0,99 mln)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4133087"/>
            <a:ext cx="333756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850" b="0" i="0">
                <a:solidFill>
                  <a:srgbClr val="5B6775"/>
                </a:solidFill>
                <a:latin typeface="Calibri"/>
              </a:rPr>
              <a:t>Klienci!O2, O9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562856"/>
            <a:ext cx="3566160" cy="12984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562856"/>
            <a:ext cx="64008" cy="12984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4636008"/>
            <a:ext cx="33375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24,5%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5184648"/>
            <a:ext cx="3337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C2430"/>
                </a:solidFill>
                <a:latin typeface="Calibri"/>
              </a:rPr>
              <a:t>rotacji w Obsłudze Klienta (2,7× mediany) · SLA 92,1% · 53% błędów firmy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5568696"/>
            <a:ext cx="333756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850" b="0" i="0">
                <a:solidFill>
                  <a:srgbClr val="5B6775"/>
                </a:solidFill>
                <a:latin typeface="Calibri"/>
              </a:rPr>
              <a:t>Działy!E19, D41, C41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169164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Łańcuch przyczyn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2029968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2029968"/>
            <a:ext cx="64008" cy="804672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084832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B83B2E"/>
                </a:solidFill>
                <a:latin typeface="Calibri"/>
              </a:rPr>
              <a:t>Kary SLA 6,27 mln zł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marża NORDY 4,6% zamiast 23% przed karami</a:t>
            </a:r>
          </a:p>
        </p:txBody>
      </p:sp>
      <p:sp>
        <p:nvSpPr>
          <p:cNvPr id="24" name="Up Arrow 23"/>
          <p:cNvSpPr/>
          <p:nvPr/>
        </p:nvSpPr>
        <p:spPr>
          <a:xfrm>
            <a:off x="6291072" y="2852928"/>
            <a:ext cx="219456" cy="201168"/>
          </a:xfrm>
          <a:prstGeom prst="up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3054096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34840" y="3054096"/>
            <a:ext cx="64008" cy="804672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108960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B83B2E"/>
                </a:solidFill>
                <a:latin typeface="Calibri"/>
              </a:rPr>
              <a:t>SLA poniżej umów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NORDA 91,0% (szczyt XI 2025: 88,9%) · Lumea 92,4%</a:t>
            </a:r>
          </a:p>
        </p:txBody>
      </p:sp>
      <p:sp>
        <p:nvSpPr>
          <p:cNvPr id="28" name="Up Arrow 27"/>
          <p:cNvSpPr/>
          <p:nvPr/>
        </p:nvSpPr>
        <p:spPr>
          <a:xfrm>
            <a:off x="6291072" y="3877056"/>
            <a:ext cx="219456" cy="201168"/>
          </a:xfrm>
          <a:prstGeom prst="up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34840" y="4078224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34840" y="4078224"/>
            <a:ext cx="64008" cy="80467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133088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Przeciążona Obsługa Klienta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34% juniorów · 23% ze stażem &lt; 1 roku · eNPS −64</a:t>
            </a:r>
          </a:p>
        </p:txBody>
      </p:sp>
      <p:sp>
        <p:nvSpPr>
          <p:cNvPr id="32" name="Up Arrow 31"/>
          <p:cNvSpPr/>
          <p:nvPr/>
        </p:nvSpPr>
        <p:spPr>
          <a:xfrm>
            <a:off x="6291072" y="4901184"/>
            <a:ext cx="219456" cy="201168"/>
          </a:xfrm>
          <a:prstGeom prst="up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34840" y="5102352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34840" y="5102352"/>
            <a:ext cx="64008" cy="80467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5157216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Lęk i brak wsparcia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82% boi się o etat (Q20) · przeszkolonych z AI: 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603504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Strzałka: co jest przyczyną czego (od dołu do góry)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0" y="1691640"/>
            <a:ext cx="2999232" cy="45262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1783080"/>
            <a:ext cx="27432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3 priorytety zarządu</a:t>
            </a:r>
          </a:p>
        </p:txBody>
      </p:sp>
      <p:sp>
        <p:nvSpPr>
          <p:cNvPr id="39" name="Oval 38"/>
          <p:cNvSpPr/>
          <p:nvPr/>
        </p:nvSpPr>
        <p:spPr>
          <a:xfrm>
            <a:off x="8851392" y="2212848"/>
            <a:ext cx="384048" cy="384048"/>
          </a:xfrm>
          <a:prstGeom prst="ellipse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2176272"/>
            <a:ext cx="228600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C2430"/>
                </a:solidFill>
                <a:latin typeface="Calibri"/>
              </a:rPr>
              <a:t>Jakość SLA u NORDY i Lumei</a:t>
            </a:r>
          </a:p>
          <a:p>
            <a:pPr algn="l"/>
            <a:r>
              <a:rPr sz="1050" b="0" i="0">
                <a:solidFill>
                  <a:srgbClr val="5B6775"/>
                </a:solidFill>
                <a:latin typeface="Calibri"/>
              </a:rPr>
              <a:t>przed rozmową o cenie</a:t>
            </a:r>
          </a:p>
        </p:txBody>
      </p:sp>
      <p:sp>
        <p:nvSpPr>
          <p:cNvPr id="41" name="Oval 40"/>
          <p:cNvSpPr/>
          <p:nvPr/>
        </p:nvSpPr>
        <p:spPr>
          <a:xfrm>
            <a:off x="8851392" y="3172968"/>
            <a:ext cx="384048" cy="384048"/>
          </a:xfrm>
          <a:prstGeom prst="ellipse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3136391"/>
            <a:ext cx="228600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C2430"/>
                </a:solidFill>
                <a:latin typeface="Calibri"/>
              </a:rPr>
              <a:t>Ludzie w Obsłudze Klienta</a:t>
            </a:r>
          </a:p>
          <a:p>
            <a:pPr algn="l"/>
            <a:r>
              <a:rPr sz="1050" b="0" i="0">
                <a:solidFill>
                  <a:srgbClr val="5B6775"/>
                </a:solidFill>
                <a:latin typeface="Calibri"/>
              </a:rPr>
              <a:t>stabilny zespół = mniej błędów</a:t>
            </a:r>
          </a:p>
        </p:txBody>
      </p:sp>
      <p:sp>
        <p:nvSpPr>
          <p:cNvPr id="43" name="Oval 42"/>
          <p:cNvSpPr/>
          <p:nvPr/>
        </p:nvSpPr>
        <p:spPr>
          <a:xfrm>
            <a:off x="8851392" y="4133087"/>
            <a:ext cx="384048" cy="384048"/>
          </a:xfrm>
          <a:prstGeom prst="ellipse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4096511"/>
            <a:ext cx="228600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C2430"/>
                </a:solidFill>
                <a:latin typeface="Calibri"/>
              </a:rPr>
              <a:t>Odciążenie Finansów</a:t>
            </a:r>
          </a:p>
          <a:p>
            <a:pPr algn="l"/>
            <a:r>
              <a:rPr sz="1050" b="0" i="0">
                <a:solidFill>
                  <a:srgbClr val="5B6775"/>
                </a:solidFill>
                <a:latin typeface="Calibri"/>
              </a:rPr>
              <a:t>140 h nadgodzin/mies. · obciążenie Q09 = 2,6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23960" y="5120640"/>
            <a:ext cx="274320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1" i="0">
                <a:solidFill>
                  <a:srgbClr val="1C2430"/>
                </a:solidFill>
                <a:latin typeface="Calibri"/>
              </a:rPr>
              <a:t>Świadomie odkładamy: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ogon nierentownych klientów (Ibera −1,8%, Sørvik 2,1%) — wracamy przy odnowieniach w 2027.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23960" y="1371600"/>
            <a:ext cx="2743200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1C DO POTWIERDZENIA PRZEZ ZESPÓŁ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400800"/>
            <a:ext cx="11183112" cy="9144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6437376"/>
            <a:ext cx="877824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Źródła: HITL_Etap_1 — Klienci, Działy, Historia miesięczna, ankieta (513 odp.). Liczby z 1B (S1, S3, S4–S5, S8).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2/3  ·  DECYZJA · JAK MOŻE BYĆ?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Nie kupujemy lojalności NORDY rabatem — naprawiamy jakość i rośniemy tam, gdzie etat zarabia najwięcej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3949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NORDA żąda −12% ceny. Odpowiedź: negocjujemy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57400"/>
            <a:ext cx="539496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93976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Rabat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093976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FFFFFF"/>
                </a:solidFill>
                <a:latin typeface="Calibri"/>
              </a:rPr>
              <a:t>Stawka / 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093976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FFFFFF"/>
                </a:solidFill>
                <a:latin typeface="Calibri"/>
              </a:rPr>
              <a:t>Marża NORDY / rok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59736"/>
            <a:ext cx="5394960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496312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0% teraz + 90-dniowy plan SLA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496312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38,70 zł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496312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1C2430"/>
                </a:solidFill>
                <a:latin typeface="Calibri"/>
              </a:rPr>
              <a:t>+1,22 mln zł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62072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98648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4% od II kw. 2027 (za warunki)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898648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37,15 zł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898648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1C2430"/>
                </a:solidFill>
                <a:latin typeface="Calibri"/>
              </a:rPr>
              <a:t>+0,16 mln zł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64408"/>
            <a:ext cx="5394960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00984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4,6% — próg rentowności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3300984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36,92 zł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300984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1C2430"/>
                </a:solidFill>
                <a:latin typeface="Calibri"/>
              </a:rPr>
              <a:t>0 zł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666744"/>
            <a:ext cx="5394960" cy="384048"/>
          </a:xfrm>
          <a:prstGeom prst="rect">
            <a:avLst/>
          </a:prstGeom>
          <a:solidFill>
            <a:srgbClr val="FB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703320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12% — żądanie NORDY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3703320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34,06 zł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703320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B83B2E"/>
                </a:solidFill>
                <a:latin typeface="Calibri"/>
              </a:rPr>
              <a:t>−1,96 mln zł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114800"/>
            <a:ext cx="5394960" cy="12801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W zamian oczekujemy: </a:t>
            </a:r>
            <a:r>
              <a:rPr sz="1150" b="0" i="0">
                <a:solidFill>
                  <a:srgbClr val="1C2430"/>
                </a:solidFill>
                <a:latin typeface="Calibri"/>
              </a:rPr>
              <a:t>przedłużenia o 3 lata, minimalnego wolumenu, prognozy szczytów, limitu kar i podziału oszczędności z automatyzacji.</a:t>
            </a:r>
          </a:p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Argument: </a:t>
            </a:r>
            <a:r>
              <a:rPr sz="1150" b="0" i="0">
                <a:solidFill>
                  <a:srgbClr val="1C2430"/>
                </a:solidFill>
                <a:latin typeface="Calibri"/>
              </a:rPr>
              <a:t>kary SLA NORDY (4,93 mln zł) są 4× większe niż jej marża — naprawa jakości daje więcej niż jakikolwiek ruch cenowy.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440680"/>
            <a:ext cx="5394960" cy="777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486400"/>
            <a:ext cx="51663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B83B2E"/>
                </a:solidFill>
                <a:latin typeface="Calibri"/>
              </a:rPr>
              <a:t>Plan B: </a:t>
            </a:r>
            <a:r>
              <a:rPr sz="1100" b="0" i="0">
                <a:solidFill>
                  <a:srgbClr val="1C2430"/>
                </a:solidFill>
                <a:latin typeface="Calibri"/>
              </a:rPr>
              <a:t>nie schodzimy poniżej 4,6%. Jeśli NORDA odejdzie, ok. 51 etatów przechodzi do S-02, S-01 i S-10 (ok. 15) oraz naturalnej rotacji — przesunięcia zamiast zwolnień.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691640"/>
            <a:ext cx="5422392" cy="45262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783080"/>
            <a:ext cx="521208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Kierunek: wartość zamiast wolumenu</a:t>
            </a:r>
          </a:p>
          <a:p>
            <a:pPr algn="l"/>
            <a:r>
              <a:rPr sz="1100" b="0" i="0">
                <a:solidFill>
                  <a:srgbClr val="5B6775"/>
                </a:solidFill>
                <a:latin typeface="Calibri"/>
              </a:rPr>
              <a:t>analityka i usługi oparte na AI dla obecnych klientów, realizowane przez działy gotowe na zmianę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450592"/>
            <a:ext cx="51480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2505456"/>
            <a:ext cx="640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S-03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505456"/>
            <a:ext cx="2651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Analityka operacyjna</a:t>
            </a:r>
            <a:r>
              <a:rPr sz="1150" b="0" i="0">
                <a:solidFill>
                  <a:srgbClr val="5B6775"/>
                </a:solidFill>
                <a:latin typeface="Calibri"/>
              </a:rPr>
              <a:t> · Quenta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2505456"/>
            <a:ext cx="21031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50" b="0" i="0">
                <a:solidFill>
                  <a:srgbClr val="5B6775"/>
                </a:solidFill>
                <a:latin typeface="Calibri"/>
              </a:rPr>
              <a:t>80% · marża 21% · 2,1 etatu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962656"/>
            <a:ext cx="51480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3017520"/>
            <a:ext cx="640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S-20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3017520"/>
            <a:ext cx="2651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Analiza danych</a:t>
            </a:r>
            <a:r>
              <a:rPr sz="1150" b="0" i="0">
                <a:solidFill>
                  <a:srgbClr val="5B6775"/>
                </a:solidFill>
                <a:latin typeface="Calibri"/>
              </a:rPr>
              <a:t> · Quenta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3017520"/>
            <a:ext cx="21031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50" b="0" i="0">
                <a:solidFill>
                  <a:srgbClr val="5B6775"/>
                </a:solidFill>
                <a:latin typeface="Calibri"/>
              </a:rPr>
              <a:t>70% · marża 23% · 3,0 etatu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474720"/>
            <a:ext cx="51480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3952" y="3529584"/>
            <a:ext cx="640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S-14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529584"/>
            <a:ext cx="2651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Lejek sprzedaży i ofertowanie</a:t>
            </a:r>
            <a:r>
              <a:rPr sz="1150" b="0" i="0">
                <a:solidFill>
                  <a:srgbClr val="5B6775"/>
                </a:solidFill>
                <a:latin typeface="Calibri"/>
              </a:rPr>
              <a:t> · Pilawa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529584"/>
            <a:ext cx="21031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50" b="0" i="0">
                <a:solidFill>
                  <a:srgbClr val="5B6775"/>
                </a:solidFill>
                <a:latin typeface="Calibri"/>
              </a:rPr>
              <a:t>80% · marża 18% · 3,5 etatu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041648"/>
            <a:ext cx="51206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Oczekiwana marża na etat (tys. zł)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370832"/>
            <a:ext cx="178308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Nasz kierunek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4416552"/>
            <a:ext cx="2834640" cy="219456"/>
          </a:xfrm>
          <a:prstGeom prst="rect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09960" y="4370832"/>
            <a:ext cx="54864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87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4718304"/>
            <a:ext cx="178308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Projekty Finansów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4764024"/>
            <a:ext cx="1335864" cy="219456"/>
          </a:xfrm>
          <a:prstGeom prst="rect">
            <a:avLst/>
          </a:prstGeom>
          <a:solidFill>
            <a:srgbClr val="5B67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11184" y="4718304"/>
            <a:ext cx="54864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5B6775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65776"/>
            <a:ext cx="178308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Projekty Obsługi Klienta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5111496"/>
            <a:ext cx="553895" cy="219456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9215" y="5065776"/>
            <a:ext cx="54864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B83B2E"/>
                </a:solidFill>
                <a:latin typeface="Calibri"/>
              </a:rPr>
              <a:t>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440680"/>
            <a:ext cx="52120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B83B2E"/>
                </a:solidFill>
                <a:latin typeface="Calibri"/>
              </a:rPr>
              <a:t>Kosztem: </a:t>
            </a:r>
            <a:r>
              <a:rPr sz="1100" b="0" i="0">
                <a:solidFill>
                  <a:srgbClr val="1C2430"/>
                </a:solidFill>
                <a:latin typeface="Calibri"/>
              </a:rPr>
              <a:t>ekspansji Obsługi Klienta (S-02, S-09, S-12, S-19: ok. 25 etatów), nowych dużych klientów (S-06, S-22) i przesunięcia S-01 Kastella na II kw. 2027 — po pilotażu automatyzacji w Finansach.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6400800"/>
            <a:ext cx="11183112" cy="9144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437376"/>
            <a:ext cx="877824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Źródła: FINAL_HIL_Etap_2 — 2A G37:L43 (scenariusze NORDY), 2A A6:L27 (pipeline: wartość × szansa × marża / etaty), 2B C12–C22.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55480" y="6455664"/>
            <a:ext cx="2130552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RYZYKO: 3,7 MLN vs 26,4 MLN NORDY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3/3  ·  CZŁOWIEK + AI · A CO Z LUDŹMI?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AI przygotowuje, człowiek decyduje — przez rok zero zwolnień z powodu AI, a 36 etatów zdolności idzie w SLA i wzrost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Pierwsza fala AI (Etap 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1700784"/>
            <a:ext cx="2834640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DECYZJA ZESPOŁU 3B/3C ✓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57400"/>
            <a:ext cx="64008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84831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Proces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084831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Tryb ·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2084831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Uwolnione h/m*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084831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Po co (strategia)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32888"/>
            <a:ext cx="6400800" cy="4572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60320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P-014 Rejestracja reklamacji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560320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HITL · Hybryda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560320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709 (4,4 et.)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560320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1C2430"/>
                </a:solidFill>
                <a:latin typeface="Calibri"/>
              </a:rPr>
              <a:t>Źródło kar: NORDA + Lumea = 94% kar SLA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08376"/>
            <a:ext cx="64008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035808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P-012 E-maile klientów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035808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HITL · Asystent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035808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2 119 (13,2 et.)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035808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1C2430"/>
                </a:solidFill>
                <a:latin typeface="Calibri"/>
              </a:rPr>
              <a:t>Największy proces OK; szybciej dla NORDY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83864"/>
            <a:ext cx="6400800" cy="4572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511296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P-001 Rejestracja faktur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3511296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Automat + wyjątki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3511296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2 962 (18,5 et.)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511296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1C2430"/>
                </a:solidFill>
                <a:latin typeface="Calibri"/>
              </a:rPr>
              <a:t>Odciąża Finanse przed S-01 (II kw. 2027)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959352"/>
            <a:ext cx="6400800" cy="457200"/>
          </a:xfrm>
          <a:prstGeom prst="rect">
            <a:avLst/>
          </a:prstGeom>
          <a:solidFill>
            <a:srgbClr val="E6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986784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P-015 Reklamacje złożone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3986784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0F7C7E"/>
                </a:solidFill>
                <a:latin typeface="Calibri"/>
              </a:rPr>
              <a:t>Zostaje u człowieka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3986784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3986784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1C2430"/>
                </a:solidFill>
                <a:latin typeface="Calibri"/>
              </a:rPr>
              <a:t>Zasadność i ryzyko prawne; 31% OK: „trudne rozmowy”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526280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HITL dla P-014 (CRM Helios): AI proponuje, konsultant kwalifikuje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F7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1 · AI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rozpoznaje klienta i zamówienie, tworzy kartę reklamacji i listę braków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975104" y="5202936"/>
            <a:ext cx="155448" cy="182880"/>
          </a:xfrm>
          <a:prstGeom prst="right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884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F7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8541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2 · AI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proponuje kategorię i priorytet SLA z pewnością; &lt; 80% → konsultant ręcznie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621024" y="5202936"/>
            <a:ext cx="155448" cy="182880"/>
          </a:xfrm>
          <a:prstGeom prst="right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9476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3133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3 · Konsultant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zatwierdza lub zmienia kategorię i priorytet — punkt kontroli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266944" y="5202936"/>
            <a:ext cx="155448" cy="182880"/>
          </a:xfrm>
          <a:prstGeom prst="right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4068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725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C77C0E"/>
                </a:solidFill>
                <a:latin typeface="Calibri"/>
              </a:rPr>
              <a:t>Eskalacja → specjalista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bezpieczeństwo produktu, wysoka wartość, spór, brak dowodu → P-015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779008"/>
            <a:ext cx="640080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1" i="0">
                <a:solidFill>
                  <a:srgbClr val="1C2430"/>
                </a:solidFill>
                <a:latin typeface="Calibri"/>
              </a:rPr>
              <a:t>Kontrola: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10% próbki tygodniowo; trafność &lt; 90% → AI wstrzymane. Efekt: czas −30%, błędy 6,9% → &lt; 4%</a:t>
            </a:r>
          </a:p>
          <a:p>
            <a:pPr algn="l"/>
            <a:r>
              <a:rPr sz="1050" b="1" i="0">
                <a:solidFill>
                  <a:srgbClr val="1C2430"/>
                </a:solidFill>
                <a:latin typeface="Calibri"/>
              </a:rPr>
              <a:t>Koszt technologii rok 1: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ok. 222 tys. zł z 300 tys. zł </a:t>
            </a:r>
            <a:r>
              <a:rPr sz="950" b="0" i="0">
                <a:solidFill>
                  <a:srgbClr val="5B6775"/>
                </a:solidFill>
                <a:latin typeface="Calibri"/>
              </a:rPr>
              <a:t>(Hybryda P-014 68 · Asystent P-012 72 · Hybryda P-001 82 tys.)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8040" y="1691640"/>
            <a:ext cx="4507992" cy="4526280"/>
          </a:xfrm>
          <a:prstGeom prst="rect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1764792"/>
            <a:ext cx="27432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A co z ludźmi? Rok zmiany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710928" y="1792224"/>
            <a:ext cx="1856231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0 ZWOLNIEŃ Z POWODU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2103120"/>
            <a:ext cx="4297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1" i="0">
                <a:solidFill>
                  <a:srgbClr val="1C2430"/>
                </a:solidFill>
                <a:latin typeface="Calibri"/>
              </a:rPr>
              <a:t>96 etatów objętych zmianą (13% firmy).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36 etatów zdolności* → szczyty NORDY, SLA, S-01 Kastella (6,5 et.)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15200" y="2606040"/>
            <a:ext cx="868680" cy="5303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0" y="2606040"/>
            <a:ext cx="868680" cy="53035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MIES. 1–3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2587752"/>
            <a:ext cx="338328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0" i="0">
                <a:solidFill>
                  <a:srgbClr val="1C2430"/>
                </a:solidFill>
                <a:latin typeface="Calibri"/>
              </a:rPr>
              <a:t>Gwarancja i polityka AI, rozmowy 1:1 · pilotaż P-014/P-012 z ochotnikami NORDY</a:t>
            </a:r>
          </a:p>
          <a:p>
            <a:pPr algn="l"/>
            <a:r>
              <a:rPr sz="850" b="0" i="1">
                <a:solidFill>
                  <a:srgbClr val="5B6775"/>
                </a:solidFill>
                <a:latin typeface="Calibri"/>
              </a:rPr>
              <a:t>Brama: trafność AI ≥ 90%, SLA NORDY nie spada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0" y="3200400"/>
            <a:ext cx="868680" cy="530352"/>
          </a:xfrm>
          <a:prstGeom prst="rect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0" y="3200400"/>
            <a:ext cx="868680" cy="53035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MIES. 4–6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3182112"/>
            <a:ext cx="338328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0" i="0">
                <a:solidFill>
                  <a:srgbClr val="1C2430"/>
                </a:solidFill>
                <a:latin typeface="Calibri"/>
              </a:rPr>
              <a:t>Cała Obsługa Klienta (55 kont) · automat faktur P-001</a:t>
            </a:r>
          </a:p>
          <a:p>
            <a:pPr algn="l"/>
            <a:r>
              <a:rPr sz="850" b="0" i="1">
                <a:solidFill>
                  <a:srgbClr val="5B6775"/>
                </a:solidFill>
                <a:latin typeface="Calibri"/>
              </a:rPr>
              <a:t>Brama: SLA NORDY ≥ 93%, ≥ 75% faktur automatycznie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15200" y="3794760"/>
            <a:ext cx="868680" cy="530352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0" y="3794760"/>
            <a:ext cx="868680" cy="53035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MIES. 7–12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3776472"/>
            <a:ext cx="338328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0" i="0">
                <a:solidFill>
                  <a:srgbClr val="1C2430"/>
                </a:solidFill>
                <a:latin typeface="Calibri"/>
              </a:rPr>
              <a:t>Czas → S-01 i szczyty XI–XII · 3 nowe role z wewnątrz · 2. fala AI</a:t>
            </a:r>
          </a:p>
          <a:p>
            <a:pPr algn="l"/>
            <a:r>
              <a:rPr sz="850" b="0" i="1">
                <a:solidFill>
                  <a:srgbClr val="5B6775"/>
                </a:solidFill>
                <a:latin typeface="Calibri"/>
              </a:rPr>
              <a:t>Brama: 0 zwolnień, SLA Finansów ≥ 96,2%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0" y="4416552"/>
            <a:ext cx="429768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3 rezultaty po 12 miesiącach (4C)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0" y="4709160"/>
            <a:ext cx="429768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0" y="4709160"/>
            <a:ext cx="2148840" cy="2743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Rezultat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64040" y="4709160"/>
            <a:ext cx="1097280" cy="2743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Dziś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1320" y="4709160"/>
            <a:ext cx="1051560" cy="2743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Cel 12 mies.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315200" y="5001768"/>
            <a:ext cx="42976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0" y="5001768"/>
            <a:ext cx="2148840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0" i="0">
                <a:solidFill>
                  <a:srgbClr val="1C2430"/>
                </a:solidFill>
                <a:latin typeface="Calibri"/>
              </a:rPr>
              <a:t>Wynik: SLA NORDY · kary NORDA + Lumea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64040" y="5001768"/>
            <a:ext cx="1097280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0" i="0">
                <a:solidFill>
                  <a:srgbClr val="1C2430"/>
                </a:solidFill>
                <a:latin typeface="Calibri"/>
              </a:rPr>
              <a:t>91,0% · 5,92 mln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61320" y="5001768"/>
            <a:ext cx="1051560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1" i="0">
                <a:solidFill>
                  <a:srgbClr val="0F7C7E"/>
                </a:solidFill>
                <a:latin typeface="Calibri"/>
              </a:rPr>
              <a:t>≥ 95% · −50%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315200" y="5404104"/>
            <a:ext cx="4297680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15200" y="5404104"/>
            <a:ext cx="2148840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0" i="0">
                <a:solidFill>
                  <a:srgbClr val="1C2430"/>
                </a:solidFill>
                <a:latin typeface="Calibri"/>
              </a:rPr>
              <a:t>Adopcja: aktywne konta AI · przeszkoleni OK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64040" y="5404104"/>
            <a:ext cx="1097280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0" i="0">
                <a:solidFill>
                  <a:srgbClr val="1C2430"/>
                </a:solidFill>
                <a:latin typeface="Calibri"/>
              </a:rPr>
              <a:t>pomiar mies. 1 · 9%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61320" y="5404104"/>
            <a:ext cx="1051560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1" i="0">
                <a:solidFill>
                  <a:srgbClr val="0F7C7E"/>
                </a:solidFill>
                <a:latin typeface="Calibri"/>
              </a:rPr>
              <a:t>≥ 80% · 100%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0" y="5806440"/>
            <a:ext cx="42976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806440"/>
            <a:ext cx="2148840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0" i="0">
                <a:solidFill>
                  <a:srgbClr val="1C2430"/>
                </a:solidFill>
                <a:latin typeface="Calibri"/>
              </a:rPr>
              <a:t>Ludzie: obawa o pracę OK (Q20) · rotacja OK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64040" y="5806440"/>
            <a:ext cx="1097280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0" i="0">
                <a:solidFill>
                  <a:srgbClr val="1C2430"/>
                </a:solidFill>
                <a:latin typeface="Calibri"/>
              </a:rPr>
              <a:t>4,2 · 24,5%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61320" y="5806440"/>
            <a:ext cx="1051560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950" b="1" i="0">
                <a:solidFill>
                  <a:srgbClr val="0F7C7E"/>
                </a:solidFill>
                <a:latin typeface="Calibri"/>
              </a:rPr>
              <a:t>≤ 3,5 · ≤ 20%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6400800"/>
            <a:ext cx="11183112" cy="9144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2920" y="6437376"/>
            <a:ext cx="877824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* Hipoteza zespołu (3B, kol. H): P-014 −30%, P-012 −30%, P-001 −50% godzin z 3A; 1 etat = 160 h/m. Źródła: Etap 3 — 3B, 3C, 3D; Etap 4 — 4A (role), 4B (fazy, bramy), 4C (KPI); Historia_miesieczna, Klienci, Działy; ankieta Q15–Q21.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555480" y="6455664"/>
            <a:ext cx="2130552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36 ET. — SPRAWDŹ 3A (E4)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